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A38B6B3-DE23-E469-A2A2-AC8EDC405BF8}">
          <p14:sldIdLst>
            <p14:sldId id="256"/>
            <p14:sldId id="257"/>
            <p14:sldId id="258"/>
            <p14:sldId id="259"/>
            <p14:sldId id="260"/>
          </p14:sldIdLst>
        </p14:section>
        <p14:section name="Data" id="{9DB82B05-F0BC-51D5-D767-57085171400D}">
          <p14:sldIdLst>
            <p14:sldId id="261"/>
            <p14:sldId id="262"/>
            <p14:sldId id="263"/>
          </p14:sldIdLst>
        </p14:section>
        <p14:section name="Methodology" id="{EFE26ABF-323C-EA25-6D21-4D03D47D967A}">
          <p14:sldIdLst>
            <p14:sldId id="264"/>
            <p14:sldId id="265"/>
            <p14:sldId id="266"/>
            <p14:sldId id="267"/>
          </p14:sldIdLst>
        </p14:section>
        <p14:section name="Models" id="{FE909C02-B93E-140A-C342-7651CB193ED0}">
          <p14:sldIdLst>
            <p14:sldId id="268"/>
            <p14:sldId id="269"/>
            <p14:sldId id="270"/>
            <p14:sldId id="271"/>
            <p14:sldId id="272"/>
          </p14:sldIdLst>
        </p14:section>
        <p14:section name="System &amp; Results" id="{C80658C7-3D67-08D5-1D03-CA466C4D6CB2}">
          <p14:sldIdLst>
            <p14:sldId id="273"/>
            <p14:sldId id="274"/>
            <p14:sldId id="275"/>
          </p14:sldIdLst>
        </p14:section>
        <p14:section name="Conclusion" id="{3DDC0353-337C-03C4-6191-69A4FC52605C}">
          <p14:sldIdLst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lang="en-US" sz="1100" b="0" i="0" u="none" strike="noStrike">
                <a:solidFill>
                  <a:srgbClr val="1F2937"/>
                </a:solidFill>
                <a:latin typeface="+mn-lt"/>
              </a:rPr>
              <a:t>Yearly incidents: historical extremes vs ARIMA forecast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2E9-4AC6-B70D-2C268BD5DD8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2E9-4AC6-B70D-2C268BD5DD8B}"/>
              </c:ext>
            </c:extLst>
          </c:dPt>
          <c:dPt>
            <c:idx val="2"/>
            <c:invertIfNegative val="0"/>
            <c:bubble3D val="0"/>
            <c:spPr>
              <a:solidFill>
                <a:srgbClr val="1F4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2E9-4AC6-B70D-2C268BD5DD8B}"/>
              </c:ext>
            </c:extLst>
          </c:dPt>
          <c:dPt>
            <c:idx val="3"/>
            <c:invertIfNegative val="0"/>
            <c:bubble3D val="0"/>
            <c:spPr>
              <a:solidFill>
                <a:srgbClr val="1F4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2E9-4AC6-B70D-2C268BD5DD8B}"/>
              </c:ext>
            </c:extLst>
          </c:dPt>
          <c:dPt>
            <c:idx val="4"/>
            <c:invertIfNegative val="0"/>
            <c:bubble3D val="0"/>
            <c:spPr>
              <a:solidFill>
                <a:srgbClr val="1F4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2E9-4AC6-B70D-2C268BD5DD8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2017 (highest)</c:v>
                </c:pt>
                <c:pt idx="1">
                  <c:v>2019 (lowest)</c:v>
                </c:pt>
                <c:pt idx="2">
                  <c:v>2025 (forecast)</c:v>
                </c:pt>
                <c:pt idx="3">
                  <c:v>2026 (forecast)</c:v>
                </c:pt>
                <c:pt idx="4">
                  <c:v>2027 (forecast)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319</c:v>
                </c:pt>
                <c:pt idx="1">
                  <c:v>263</c:v>
                </c:pt>
                <c:pt idx="2">
                  <c:v>303</c:v>
                </c:pt>
                <c:pt idx="3">
                  <c:v>302</c:v>
                </c:pt>
                <c:pt idx="4">
                  <c:v>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2E9-4AC6-B70D-2C268BD5DD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lang="en-IN" sz="1100" b="0" i="0" u="none" strike="noStrike">
                <a:solidFill>
                  <a:srgbClr val="1F2937"/>
                </a:solidFill>
                <a:latin typeface="+mn-lt"/>
              </a:rPr>
              <a:t>SHAP 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importance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numFmt formatCode="0.0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Affected Users Score</c:v>
                </c:pt>
                <c:pt idx="1">
                  <c:v>Financial Loss Score</c:v>
                </c:pt>
                <c:pt idx="2">
                  <c:v>Resolution Time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1.4116999999999999E-2</c:v>
                </c:pt>
                <c:pt idx="1">
                  <c:v>4.8139999999999997E-3</c:v>
                </c:pt>
                <c:pt idx="2">
                  <c:v>4.248E-3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E0-4477-BC30-FB3A7F2622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7999999999999999E-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lang="en-IN" sz="1100" b="0" i="0" u="none" strike="noStrike">
                <a:solidFill>
                  <a:srgbClr val="1F2937"/>
                </a:solidFill>
                <a:latin typeface="+mn-lt"/>
              </a:rPr>
              <a:t>Risk level distribution (incidents)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E0-41AA-AABB-D2CE013570C2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E0-41AA-AABB-D2CE013570C2}"/>
              </c:ext>
            </c:extLst>
          </c:dPt>
          <c:dPt>
            <c:idx val="2"/>
            <c:invertIfNegative val="0"/>
            <c:bubble3D val="0"/>
            <c:spPr>
              <a:solidFill>
                <a:srgbClr val="B9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E0-41AA-AABB-D2CE013570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524</c:v>
                </c:pt>
                <c:pt idx="1">
                  <c:v>1850</c:v>
                </c:pt>
                <c:pt idx="2">
                  <c:v>626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E0-41AA-AABB-D2CE013570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59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2306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CyberShield Analytics  |  B.Tech Final Year Project</a:t>
            </a:r>
            <a:endParaRPr lang="en-US" sz="90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ML-driven Cyber Threat Intelligence and Risk Prediction System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9CC3EC"/>
                </a:solidFill>
              </a:rPr>
              <a:t>CyberShield Analytics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3063240"/>
            <a:ext cx="2286000" cy="0"/>
          </a:xfrm>
          <a:prstGeom prst="line">
            <a:avLst/>
          </a:prstGeom>
          <a:noFill/>
          <a:ln w="25400">
            <a:solidFill>
              <a:srgbClr val="9CC3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B.Tech Final Year Project  |  Team Project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4F5"/>
                </a:solidFill>
              </a:rPr>
              <a:t>Team Members: [Nikita Kumari Panda]  |  [Kumari Puspita Choudhury]  |  [Adyasha Padhy]  |  [Ankita Dash]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4F5"/>
                </a:solidFill>
              </a:rPr>
              <a:t>[Computer Science]  |   |  Academic Year: [2026–2027]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Cybersecurity incidents are increasing in complexity and volume.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Historical incident data contains patterns related to attacks, affected users, financial loss, and resolution time.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Traditional analysis mainly describes past incidents.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Machine Learning can help predict incident risk and identify unusual patterns.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Forecasting gives an indication of future incident trends.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Explainable AI helps analysts understand why a prediction was made.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CyberShield Analytics combines these capabilities into one analytical system.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703320"/>
            <a:ext cx="1426464" cy="731520"/>
          </a:xfrm>
          <a:prstGeom prst="roundRect">
            <a:avLst>
              <a:gd name="adj" fmla="val 7500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Historical Cybersecurity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11096" y="406908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157984" y="3703320"/>
            <a:ext cx="1426464" cy="731520"/>
          </a:xfrm>
          <a:prstGeom prst="roundRect">
            <a:avLst>
              <a:gd name="adj" fmla="val 7500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406908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858768" y="3703320"/>
            <a:ext cx="1426464" cy="731520"/>
          </a:xfrm>
          <a:prstGeom prst="roundRect">
            <a:avLst>
              <a:gd name="adj" fmla="val 7500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ML Models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12664" y="406908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559552" y="3703320"/>
            <a:ext cx="1426464" cy="731520"/>
          </a:xfrm>
          <a:prstGeom prst="roundRect">
            <a:avLst>
              <a:gd name="adj" fmla="val 7500"/>
            </a:avLst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Intelligence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13448" y="406908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260336" y="3703320"/>
            <a:ext cx="1426464" cy="731520"/>
          </a:xfrm>
          <a:prstGeom prst="roundRect">
            <a:avLst>
              <a:gd name="adj" fmla="val 7500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Decision Support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Large volumes of incident data are difficult to analyze manually.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Security teams need to identify high-risk incidents quickly.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Similar historical incidents are difficult to compare manually.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Unusual or anomalous incidents may be overlooked.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Future incident trends are difficult to estimate from raw data alone.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ML predictions need to be understandable to analysts.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A unified system is needed for risk prediction, anomaly detection, forecasting, explainability, and visualization.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EAF1FA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11880"/>
            <a:ext cx="73152" cy="9144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2306B"/>
                </a:solidFill>
              </a:rPr>
              <a:t>“There is a need for an integrated analytical system that transforms historical cybersecurity incident data into risk predictions, anomaly insights, forecasts, explanations, and early-warning information.”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5943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207008"/>
            <a:ext cx="374904" cy="374904"/>
          </a:xfrm>
          <a:prstGeom prst="ellipse">
            <a:avLst/>
          </a:prstGeom>
          <a:solidFill>
            <a:srgbClr val="1F4E8C"/>
          </a:solidFill>
          <a:ln>
            <a:solidFill>
              <a:srgbClr val="1F4E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972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Analyze historical cybersecurity incidents.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4023360" cy="5943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11096"/>
            <a:ext cx="374904" cy="374904"/>
          </a:xfrm>
          <a:prstGeom prst="ellipse">
            <a:avLst/>
          </a:prstGeom>
          <a:solidFill>
            <a:srgbClr val="1F4E8C"/>
          </a:solidFill>
          <a:ln>
            <a:solidFill>
              <a:srgbClr val="1F4E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80136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Identify attack, industry, severity, and risk patterns.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4023360" cy="5943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615184"/>
            <a:ext cx="374904" cy="374904"/>
          </a:xfrm>
          <a:prstGeom prst="ellipse">
            <a:avLst/>
          </a:prstGeom>
          <a:solidFill>
            <a:srgbClr val="1F4E8C"/>
          </a:solidFill>
          <a:ln>
            <a:solidFill>
              <a:srgbClr val="1F4E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0545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Predict incident risk levels using Machine Learning.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9544"/>
            <a:ext cx="4023360" cy="5943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319272"/>
            <a:ext cx="374904" cy="374904"/>
          </a:xfrm>
          <a:prstGeom prst="ellipse">
            <a:avLst/>
          </a:prstGeom>
          <a:solidFill>
            <a:srgbClr val="1F4E8C"/>
          </a:solidFill>
          <a:ln>
            <a:solidFill>
              <a:srgbClr val="1F4E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0954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Detect unusual incidents using anomaly detection.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4023360" cy="5943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023360"/>
            <a:ext cx="374904" cy="374904"/>
          </a:xfrm>
          <a:prstGeom prst="ellipse">
            <a:avLst/>
          </a:prstGeom>
          <a:solidFill>
            <a:srgbClr val="1F4E8C"/>
          </a:solidFill>
          <a:ln>
            <a:solidFill>
              <a:srgbClr val="1F4E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1363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Forecast future incident trends.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023360" cy="5943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207008"/>
            <a:ext cx="374904" cy="374904"/>
          </a:xfrm>
          <a:prstGeom prst="ellipse">
            <a:avLst/>
          </a:prstGeom>
          <a:solidFill>
            <a:srgbClr val="1F4E8C"/>
          </a:solidFill>
          <a:ln>
            <a:solidFill>
              <a:srgbClr val="1F4E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10972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Explain ML predictions using SHAP.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801368"/>
            <a:ext cx="4023360" cy="5943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911096"/>
            <a:ext cx="374904" cy="374904"/>
          </a:xfrm>
          <a:prstGeom prst="ellipse">
            <a:avLst/>
          </a:prstGeom>
          <a:solidFill>
            <a:srgbClr val="1F4E8C"/>
          </a:solidFill>
          <a:ln>
            <a:solidFill>
              <a:srgbClr val="1F4E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180136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Prioritize incidents according to risk.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505456"/>
            <a:ext cx="4023360" cy="5943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615184"/>
            <a:ext cx="374904" cy="374904"/>
          </a:xfrm>
          <a:prstGeom prst="ellipse">
            <a:avLst/>
          </a:prstGeom>
          <a:solidFill>
            <a:srgbClr val="1F4E8C"/>
          </a:solidFill>
          <a:ln>
            <a:solidFill>
              <a:srgbClr val="1F4E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250545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Provide early-warning indicators.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209544"/>
            <a:ext cx="4023360" cy="5943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319272"/>
            <a:ext cx="374904" cy="374904"/>
          </a:xfrm>
          <a:prstGeom prst="ellipse">
            <a:avLst/>
          </a:prstGeom>
          <a:solidFill>
            <a:srgbClr val="1F4E8C"/>
          </a:solidFill>
          <a:ln>
            <a:solidFill>
              <a:srgbClr val="1F4E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320954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Present intelligence through an interactive Power BI dashboard.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913632"/>
            <a:ext cx="4023360" cy="5943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4023360"/>
            <a:ext cx="374904" cy="374904"/>
          </a:xfrm>
          <a:prstGeom prst="ellipse">
            <a:avLst/>
          </a:prstGeom>
          <a:solidFill>
            <a:srgbClr val="1F4E8C"/>
          </a:solidFill>
          <a:ln>
            <a:solidFill>
              <a:srgbClr val="1F4E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391363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Support better security analysis and decision-making.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Project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972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Analysis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Historical incident analysis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Attack and industry patterns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Risk trend analysis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164592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97280"/>
            <a:ext cx="265176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55848" y="10972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Random Forest risk prediction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Isolation Forest anomaly detection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164592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97280"/>
            <a:ext cx="265176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44768" y="10972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Forecasting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ARIMA incident forecasting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51760" cy="164592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80360"/>
            <a:ext cx="265176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8803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Explainability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SHAP feature importance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2651760" cy="164592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880360"/>
            <a:ext cx="265176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55848" y="28803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 Intelligence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Risk scoring and prioritization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Early-warning indicators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Risk monitoring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2880360"/>
            <a:ext cx="2651760" cy="164592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880360"/>
            <a:ext cx="265176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44768" y="28803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Power BI dashboard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Charts and analytical views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Dataset Description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651760" cy="868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3000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Records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46120" y="1097280"/>
            <a:ext cx="2651760" cy="86868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10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Attributes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0" y="1097280"/>
            <a:ext cx="2651760" cy="868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2015–2024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Years covered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Dataset: </a:t>
            </a:r>
            <a:r>
              <a:rPr lang="en-US" sz="1200" dirty="0">
                <a:solidFill>
                  <a:srgbClr val="1F2937"/>
                </a:solidFill>
              </a:rPr>
              <a:t>Global Cybersecurity Threats 2015–2024     </a:t>
            </a:r>
            <a:r>
              <a:rPr lang="en-US" sz="1200" b="1" dirty="0">
                <a:solidFill>
                  <a:srgbClr val="1F2937"/>
                </a:solidFill>
              </a:rPr>
              <a:t>Source: </a:t>
            </a:r>
            <a:r>
              <a:rPr lang="en-US" sz="1200" dirty="0">
                <a:solidFill>
                  <a:srgbClr val="1F2937"/>
                </a:solidFill>
              </a:rPr>
              <a:t>Kaggle     </a:t>
            </a:r>
            <a:r>
              <a:rPr lang="en-US" sz="1200" b="1" dirty="0">
                <a:solidFill>
                  <a:srgbClr val="1F2937"/>
                </a:solidFill>
              </a:rPr>
              <a:t>Size: </a:t>
            </a:r>
            <a:r>
              <a:rPr lang="en-US" sz="1200" dirty="0">
                <a:solidFill>
                  <a:srgbClr val="1F2937"/>
                </a:solidFill>
              </a:rPr>
              <a:t>3000 incidents × 10 original attributes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06B"/>
                </a:solidFill>
              </a:rPr>
              <a:t>Original attributes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718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Country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Year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Attack Type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Target Industry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Financial Loss (in Million $)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9718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Number of Affected Users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Attack Source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Security Vulnerability Type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Defense Mechanism Used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Incident Resolution Time (in Hours)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 Preprocessing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Dataset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67712" y="137160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606040" y="10972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Validation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16552" y="137160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754880" y="10972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65392" y="137160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903720" y="10972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Cleaned Dataset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920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Loaded the raw CSV dataset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Checked structure and data types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Checked missing values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Checked duplicate records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Validated numerical values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Checked year range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Verified financial loss values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Verified affected-user values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Verified incident resolution time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Created a cleaned dataset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920240"/>
          <a:ext cx="4023360" cy="263347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Missing values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Duplicate records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Negative numerical values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Financial loss range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0.50–99.99 million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Affected users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424–999,635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Resolution time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1–72 hours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Year range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2015–2024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Feature Engineering &amp; Risk Scoring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12306B"/>
          </a:solidFill>
          <a:ln>
            <a:solidFill>
              <a:srgbClr val="12306B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Risk Score = (50% × Financial Loss Score) + (30% × Affected Users Score) + (20% × Resolution Time Score)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017520" cy="24231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301752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10312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New fields created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Incident 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Financial Loss Score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Affected Users Score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Resolution Time Score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Risk Score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Risk Level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103120"/>
            <a:ext cx="1554480" cy="24231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Low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Score 0–33</a:t>
            </a:r>
            <a:endParaRPr lang="en-US" sz="14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524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incidents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2103120"/>
            <a:ext cx="1554480" cy="24231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Medium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Score 34–66</a:t>
            </a:r>
            <a:endParaRPr lang="en-US" sz="14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1850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incidents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2103120"/>
            <a:ext cx="1554480" cy="2423160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Score 67–100</a:t>
            </a:r>
            <a:endParaRPr lang="en-US" sz="14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626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incidents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1. Data Collection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27632" y="180594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1874520" y="137160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2. Data Cleaning &amp; Validation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44952" y="180594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291840" y="137160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 Exploratory Data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62272" y="180594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709160" y="137160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4. Feature Engineering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9592" y="180594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5. Risk Scoring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96912" y="180594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543800" y="137160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6. Machine Learning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15300" y="2267712"/>
            <a:ext cx="0" cy="72237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543800" y="30175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7. Anomaly Detection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H="1">
            <a:off x="7296912" y="345186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126480" y="30175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8. Forecasting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H="1">
            <a:off x="5879592" y="345186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709160" y="30175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9. Explainable 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H="1">
            <a:off x="4462272" y="345186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91840" y="30175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10. Risk Monitoring &amp; Early Warning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3044952" y="3451860"/>
            <a:ext cx="2194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874520" y="30175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11. Power BI Visualization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Sequential pipeline: each stage uses the output of the previous stage.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System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Cybersecurity Data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21992" y="1417320"/>
            <a:ext cx="3718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621280" y="10972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Data Processing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6072" y="1417320"/>
            <a:ext cx="3718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785360" y="10972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Cleaned &amp; Processed 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50152" y="1417320"/>
            <a:ext cx="3718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949440" y="10972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Score Generation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1764792"/>
            <a:ext cx="0" cy="24688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2011680"/>
            <a:ext cx="64922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2011680"/>
            <a:ext cx="0" cy="21031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57200" y="224028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Risk Prediction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25880" y="3017520"/>
            <a:ext cx="0" cy="53035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89960" y="2011680"/>
            <a:ext cx="0" cy="21031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621280" y="224028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Isolation Forest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Anomaly Detection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89960" y="3017520"/>
            <a:ext cx="0" cy="2286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4040" y="2011680"/>
            <a:ext cx="0" cy="21031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785360" y="224028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ARIMA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Incident Forecasting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54040" y="3017520"/>
            <a:ext cx="0" cy="2286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2011680"/>
            <a:ext cx="0" cy="21031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949440" y="224028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SHAP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Prediction Explanation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18120" y="3017520"/>
            <a:ext cx="0" cy="2286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5880" y="3246120"/>
            <a:ext cx="64922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6616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Monitoring &amp; Early Warning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21992" y="3931920"/>
            <a:ext cx="3718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621280" y="356616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MySQL + Analytical Outputs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6072" y="3931920"/>
            <a:ext cx="3718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785360" y="356616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 Dashboard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50152" y="3931920"/>
            <a:ext cx="3718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949440" y="356616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Intelligence / Decision Support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Stage 1: data preparation  →  Stage 2: parallel analytical components  →  Stage 3: delivery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Technologies Used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9728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Programming &amp; Analysis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2306B"/>
                </a:solidFill>
              </a:rPr>
              <a:t>Python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2306B"/>
                </a:solidFill>
              </a:rPr>
              <a:t>Pandas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2306B"/>
                </a:solidFill>
              </a:rPr>
              <a:t>NumPy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155448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097280"/>
            <a:ext cx="192024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09728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554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2306B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55448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97280"/>
            <a:ext cx="192024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109728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Forecasting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554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2306B"/>
                </a:solidFill>
              </a:rPr>
              <a:t>Statsmodels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20240" cy="155448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097280"/>
            <a:ext cx="192024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76288" y="109728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Explainability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554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2306B"/>
                </a:solidFill>
              </a:rPr>
              <a:t>SHAP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24328" cy="155448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34640"/>
            <a:ext cx="2624328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83464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291840"/>
            <a:ext cx="235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2306B"/>
                </a:solidFill>
              </a:rPr>
              <a:t>MySQL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59836" y="2834640"/>
            <a:ext cx="2624328" cy="155448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59836" y="2834640"/>
            <a:ext cx="2624328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69564" y="283464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396996" y="3291840"/>
            <a:ext cx="235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2306B"/>
                </a:solidFill>
              </a:rPr>
              <a:t>Power BI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62472" y="2834640"/>
            <a:ext cx="2624328" cy="155448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62472" y="2834640"/>
            <a:ext cx="2624328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2200" y="283464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Development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199632" y="3291840"/>
            <a:ext cx="235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2306B"/>
                </a:solidFill>
              </a:rPr>
              <a:t>VS Code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2306B"/>
                </a:solidFill>
              </a:rPr>
              <a:t>Jupyter Notebook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2306B"/>
                </a:solidFill>
              </a:rPr>
              <a:t>Excel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Algorithms Used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286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Risk level prediction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Predicted risk level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Isolation Forest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Anomaly detection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Normal / Anomalous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ARIMA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Incident forecasting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Future incident counts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SHAP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Model explainability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Feature contribution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solidFill>
            <a:srgbClr val="EAF1FA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3611880"/>
            <a:ext cx="73152" cy="868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3611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6B"/>
                </a:solidFill>
              </a:rPr>
              <a:t>These algorithms address different analytical requirements — prediction, anomaly detection, forecasting, and explanation — and work together as one intelligence pipeline.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Random Forest Risk Prediction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Used for incident risk-level prediction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Target variable: Risk Level (Low, Medium, High)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Categorical encoding using LabelEncoder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Train-test split: 80:20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Random state: 42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Number of trees: 100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Generated predicted risk levels, probabilities, and model confidence levels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Supported incident prioritization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663440" y="1097280"/>
            <a:ext cx="4023360" cy="251460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97280"/>
            <a:ext cx="402336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73168" y="109728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Features used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5544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Country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Year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Attack Type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Target Industry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Financial Loss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5544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Affected Users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Attack Source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Vulnerability Type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Defense Mechanism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Resolution Time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Incident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67712" y="416052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606040" y="38404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Multiple Decision Trees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16552" y="416052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754880" y="38404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Voting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65392" y="416052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903720" y="38404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Predicted Risk Level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Isolation Forest Anomaly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438400" cy="640080"/>
          </a:xfrm>
          <a:prstGeom prst="roundRect">
            <a:avLst>
              <a:gd name="adj" fmla="val 8571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3000 Incidents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3032" y="1417320"/>
            <a:ext cx="402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3352800" y="1097280"/>
            <a:ext cx="2438400" cy="640080"/>
          </a:xfrm>
          <a:prstGeom prst="roundRect">
            <a:avLst>
              <a:gd name="adj" fmla="val 8571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Isolation Forest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18632" y="1417320"/>
            <a:ext cx="402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248400" y="1097280"/>
            <a:ext cx="2438400" cy="640080"/>
          </a:xfrm>
          <a:prstGeom prst="roundRect">
            <a:avLst>
              <a:gd name="adj" fmla="val 8571"/>
            </a:avLst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2850 Normal + 150 Anomalous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06B"/>
                </a:solidFill>
              </a:rPr>
              <a:t>Purpose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Identify unusual cybersecurity incidents that differ from normal incident patterns.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06B"/>
                </a:solidFill>
              </a:rPr>
              <a:t>Features used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04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Financial Loss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Number of Affected Users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Incident Resolution Time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Risk Score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965960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3209544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68223" y="2814237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40999" y="2670923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73231" y="3200015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36482" y="3103218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01064" y="2556925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4123" y="3093415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35688" y="3386773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1617" y="2577121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12868" y="2910504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03445" y="3206859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93370" y="2746893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68493" y="2709205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3097" y="3220003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80933" y="3025857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40340" y="2566297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1468" y="3134627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53679" y="3326018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53483" y="2548649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0759" y="2962040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38421" y="3198863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19325" y="2684629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84668" y="2753419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46382" y="3234384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74056" y="2947275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16336" y="2584830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88241" y="3172160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64923" y="3257262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50808" y="2529737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34846" y="3013797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7215" y="3185738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94736" y="2628853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81434" y="2802566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41338" y="3242832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66200" y="2869247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75362" y="2612105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91088" y="3205167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75207" y="3182056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16228" y="2520811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8278" y="3064604"/>
            <a:ext cx="91440" cy="9144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65192" y="2221992"/>
            <a:ext cx="128016" cy="12801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65592" y="2176272"/>
            <a:ext cx="128016" cy="12801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56632" y="3776472"/>
            <a:ext cx="128016" cy="12801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74152" y="3730752"/>
            <a:ext cx="128016" cy="12801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57032" y="2953512"/>
            <a:ext cx="128016" cy="12801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05272" y="2084832"/>
            <a:ext cx="128016" cy="12801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0" y="4233672"/>
            <a:ext cx="109728" cy="109728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736592" y="41879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Normal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86400" y="4233672"/>
            <a:ext cx="109728" cy="10972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650992" y="41879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Anomalous (illustrative diagram)</a:t>
            </a:r>
            <a:endParaRPr lang="en-US" sz="100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ARIMA Forecasting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Historical yearly incident counts (2015–2024) were used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ARIMA estimates future incident trends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Forecast horizon: 3 years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Forecasts stay close to recent historical levels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Indicates a relatively stable expected trend, not a sharp increase or decrease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4023360" cy="11704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Forecast Incidents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2025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303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2026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302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2027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302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663440" y="1097280"/>
          <a:ext cx="4023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SHAP Explainable AI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Purpose: understand which features contribute to model predictions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Features analyzed: Affected Users Score, Financial Loss Score, Resolution Time Score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Key finding: Affected Users Score had the highest contribution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4023360" cy="124358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Importance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Affected Users Score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0.014117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Financial Loss Score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0.004814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Resolution Time Score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0.004248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663440" y="1097280"/>
          <a:ext cx="40233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3931920"/>
            <a:ext cx="1817370" cy="548640"/>
          </a:xfrm>
          <a:prstGeom prst="roundRect">
            <a:avLst>
              <a:gd name="adj" fmla="val 10000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Prediction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02002" y="4206240"/>
            <a:ext cx="26517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Text 4"/>
          <p:cNvSpPr/>
          <p:nvPr/>
        </p:nvSpPr>
        <p:spPr>
          <a:xfrm>
            <a:off x="2594610" y="3931920"/>
            <a:ext cx="1817370" cy="548640"/>
          </a:xfrm>
          <a:prstGeom prst="roundRect">
            <a:avLst>
              <a:gd name="adj" fmla="val 10000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SHAP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439412" y="4206240"/>
            <a:ext cx="26517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Text 6"/>
          <p:cNvSpPr/>
          <p:nvPr/>
        </p:nvSpPr>
        <p:spPr>
          <a:xfrm>
            <a:off x="4732020" y="3931920"/>
            <a:ext cx="1817370" cy="548640"/>
          </a:xfrm>
          <a:prstGeom prst="roundRect">
            <a:avLst>
              <a:gd name="adj" fmla="val 10000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Feature Contributions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576822" y="4206240"/>
            <a:ext cx="26517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Text 8"/>
          <p:cNvSpPr/>
          <p:nvPr/>
        </p:nvSpPr>
        <p:spPr>
          <a:xfrm>
            <a:off x="6869430" y="3931920"/>
            <a:ext cx="1817370" cy="548640"/>
          </a:xfrm>
          <a:prstGeom prst="roundRect">
            <a:avLst>
              <a:gd name="adj" fmla="val 10000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Analyst Understanding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Risk Monitoring &amp; Early Warning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057400" cy="731520"/>
          </a:xfrm>
          <a:prstGeom prst="rect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Low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Below 34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514600" y="1097280"/>
            <a:ext cx="2057400" cy="731520"/>
          </a:xfrm>
          <a:prstGeom prst="rect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Medium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34–66.99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2057400" cy="731520"/>
          </a:xfrm>
          <a:prstGeom prst="rect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67–79.99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29400" y="1097280"/>
            <a:ext cx="2057400" cy="731520"/>
          </a:xfrm>
          <a:prstGeom prst="rect">
            <a:avLst/>
          </a:prstGeom>
          <a:solidFill>
            <a:srgbClr val="B91C1C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Critical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80+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Risk score thresholds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4023360" cy="224028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402336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28600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Early-warning indicators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High / Critical risk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Risk increase of 20 points or more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High financial loss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Large number of affected users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Long incident resolution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286000"/>
            <a:ext cx="4023360" cy="1097280"/>
          </a:xfrm>
          <a:prstGeom prst="rect">
            <a:avLst/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1645</a:t>
            </a:r>
            <a:endParaRPr lang="en-US" sz="3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incidents contained early-warning indicators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4663440" y="3520440"/>
            <a:ext cx="4023360" cy="1005840"/>
          </a:xfrm>
          <a:prstGeom prst="rect">
            <a:avLst/>
          </a:prstGeom>
          <a:solidFill>
            <a:srgbClr val="EAF1FA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An analytical, rule-based early-warning mechanism. It does not automatically block attacks or perform external incident response.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Database &amp; Data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Processed Dataset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67712" y="150876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606040" y="114300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 incidents table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16552" y="150876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754880" y="114300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Analytical Queries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65392" y="150876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903720" y="114300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12306B"/>
          </a:solidFill>
          <a:ln w="12700">
            <a:solidFill>
              <a:srgbClr val="1230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/ 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651760" cy="10058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cybershield_analytics</a:t>
            </a:r>
            <a:endParaRPr lang="en-US" sz="17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Database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46120" y="2286000"/>
            <a:ext cx="2651760" cy="10058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incidents</a:t>
            </a:r>
            <a:endParaRPr lang="en-US" sz="17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Table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2651760" cy="10058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3000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Records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EAF1FA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11880"/>
            <a:ext cx="73152" cy="8229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611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6B"/>
                </a:solidFill>
              </a:rPr>
              <a:t>The SQL database was exported for project organization and reproducibility.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Power BI Dashboard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2900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972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 1 — Risk Overview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27632"/>
            <a:ext cx="480060" cy="20116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1627632"/>
            <a:ext cx="480060" cy="20116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627632"/>
            <a:ext cx="480060" cy="20116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00300" y="1627632"/>
            <a:ext cx="480060" cy="20116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92808"/>
            <a:ext cx="1051560" cy="365760"/>
          </a:xfrm>
          <a:prstGeom prst="rect">
            <a:avLst/>
          </a:prstGeom>
          <a:solidFill>
            <a:srgbClr val="C9D6E8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892808"/>
            <a:ext cx="822960" cy="365760"/>
          </a:xfrm>
          <a:prstGeom prst="rect">
            <a:avLst/>
          </a:prstGeom>
          <a:solidFill>
            <a:srgbClr val="C9D6E8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42316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Number of Incidents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Average Risk Score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High/Critical Risk Incidents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Anomalous Incidents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Risk Level Distribution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Predicted Risk Level Distribution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Model Confidence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Risk Change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Risk Score by Attack Type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Incidents by Year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Early Warning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ARIMA Forecast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097280"/>
            <a:ext cx="2651760" cy="342900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097280"/>
            <a:ext cx="265176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55848" y="10972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 2 — Risk Intelligence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15544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627632"/>
            <a:ext cx="1051560" cy="20116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627632"/>
            <a:ext cx="1051560" cy="20116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892808"/>
            <a:ext cx="1051560" cy="365760"/>
          </a:xfrm>
          <a:prstGeom prst="rect">
            <a:avLst/>
          </a:prstGeom>
          <a:solidFill>
            <a:srgbClr val="C9D6E8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892808"/>
            <a:ext cx="822960" cy="365760"/>
          </a:xfrm>
          <a:prstGeom prst="rect">
            <a:avLst/>
          </a:prstGeom>
          <a:solidFill>
            <a:srgbClr val="C9D6E8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242316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SHAP Feature Importance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Anomaly Analysis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Risk Monitoring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Risk Change Analysis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Early-Warning Gauge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Financial Loss Analysis by Attack Type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1097280"/>
            <a:ext cx="2651760" cy="342900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097280"/>
            <a:ext cx="2651760" cy="34747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44768" y="10972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 3 — Incident Analysis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15544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627632"/>
            <a:ext cx="1051560" cy="621792"/>
          </a:xfrm>
          <a:prstGeom prst="rect">
            <a:avLst/>
          </a:prstGeom>
          <a:solidFill>
            <a:srgbClr val="C9D6E8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1627632"/>
            <a:ext cx="822960" cy="621792"/>
          </a:xfrm>
          <a:prstGeom prst="rect">
            <a:avLst/>
          </a:prstGeom>
          <a:solidFill>
            <a:srgbClr val="C9D6E8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2200" y="242316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Top 10 Countries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Incidents by Attack Type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Target Industry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Average Affected Users by Attack Type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Average Risk Score by Target Industry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Average Resolution Time by Attack Type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Results &amp; Key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920240" cy="868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3000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Incidents analyzed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0" y="1097280"/>
            <a:ext cx="1920240" cy="86868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150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Anomalous incidents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1920240" cy="868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1645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With early-warning indicators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0" y="1097280"/>
            <a:ext cx="1920240" cy="86868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303 | 302 | 302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ARIMA forecast 2025–2027</a:t>
            </a:r>
            <a:endParaRPr lang="en-US" sz="1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148840"/>
          <a:ext cx="3931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194560"/>
          <a:ext cx="4023360" cy="230428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Most frequent attack type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DDoS (531)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Highest target industry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IT (478)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Highest yearly count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2017 (319)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Lowest yearly count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2019 (263)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Top SHAP feature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Affected Users Score</a:t>
                      </a:r>
                      <a:endParaRPr 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Advantages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2900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Combines multiple cybersecurity analytics techniques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Provides risk-level prediction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Detects unusual incidents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Forecasts future incident trends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Supports incident prioritization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1097280"/>
            <a:ext cx="4023360" cy="342900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2801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Provides explainable ML insights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Generates early-warning indicators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Supports historical comparison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Centralizes results through Power BI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Helps analysts make data-driven decisions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2900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Results depend on quality and representativeness of historical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Current dataset contains 3000 historical incidents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Risk scoring uses a predefined weighted formula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Early-warning rules are analytical and rule-based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System does not automatically block or respond to attacks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097280"/>
            <a:ext cx="4023360" cy="342900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2801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ARIMA forecasts depend on historical incident trends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ML predictions may not capture completely new attack patterns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External real-time threat feeds are not currently integrated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Dashboard insights depend on the available processed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Future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0515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10515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2306B"/>
                </a:solidFill>
              </a:rPr>
              <a:t>Real-Time Threat Intelligence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</a:rPr>
              <a:t>Integrate live threat feeds, SIEM data, and security logs.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0515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097280"/>
            <a:ext cx="64008" cy="10515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1704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2306B"/>
                </a:solidFill>
              </a:rPr>
              <a:t>Advanced ML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</a:rPr>
              <a:t>Compare Random Forest with XGBoost, Gradient Boosting, or other suitable models.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0515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97280"/>
            <a:ext cx="64008" cy="10515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1704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2306B"/>
                </a:solidFill>
              </a:rPr>
              <a:t>Deep Learning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</a:rPr>
              <a:t>Explore deep learning for large-scale sequential or behavioral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2651760" cy="10515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64008" cy="10515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331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2306B"/>
                </a:solidFill>
              </a:rPr>
              <a:t>Automated Alerts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</a:rPr>
              <a:t>Send real-time alerts through email, messaging systems, or SOC platforms.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258568"/>
            <a:ext cx="2651760" cy="10515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258568"/>
            <a:ext cx="64008" cy="10515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331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2306B"/>
                </a:solidFill>
              </a:rPr>
              <a:t>Advanced Forecasting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</a:rPr>
              <a:t>Use richer time-series and event-based forecasting.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258568"/>
            <a:ext cx="2651760" cy="10515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258568"/>
            <a:ext cx="64008" cy="10515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331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2306B"/>
                </a:solidFill>
              </a:rPr>
              <a:t>Automated Response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</a:rPr>
              <a:t>Integrate with security tools for automated incident-response workflows.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2651760" cy="10515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19856"/>
            <a:ext cx="64008" cy="10515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4930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2306B"/>
                </a:solidFill>
              </a:rPr>
              <a:t>Analyst Feedback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</a:rPr>
              <a:t>Let analysts give feedback to improve future predictions.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3419856"/>
            <a:ext cx="2651760" cy="10515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3419856"/>
            <a:ext cx="64008" cy="10515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4930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2306B"/>
                </a:solidFill>
              </a:rPr>
              <a:t>What-If Simulation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</a:rPr>
              <a:t>Modify incident factors and observe possible risk changes.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3419856"/>
            <a:ext cx="2651760" cy="1051560"/>
          </a:xfrm>
          <a:prstGeom prst="rect">
            <a:avLst/>
          </a:prstGeom>
          <a:solidFill>
            <a:srgbClr val="EAF1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3419856"/>
            <a:ext cx="64008" cy="10515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34930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2306B"/>
                </a:solidFill>
              </a:rPr>
              <a:t>Real-Time Dashboard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</a:rPr>
              <a:t>Connect Power BI or another layer to continuously updated data.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1.  Husna Sultana</a:t>
            </a:r>
            <a:r>
              <a:rPr lang="en-US" sz="1300" dirty="0">
                <a:solidFill>
                  <a:srgbClr val="1F2937"/>
                </a:solidFill>
              </a:rPr>
              <a:t> — “Machine Learning for Cybersecurity: Threat Detection and Prevention”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2.  Gayatri Dattatraya Ranjane, Vishwa Hiteshkumar Joshi, Priyanshi Lokesh Kumar Singhal</a:t>
            </a:r>
            <a:r>
              <a:rPr lang="en-US" sz="1300" dirty="0">
                <a:solidFill>
                  <a:srgbClr val="1F2937"/>
                </a:solidFill>
              </a:rPr>
              <a:t> — “Cyberattack Analysis, Detection and Prevention using Machine Learning”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3.  Dr. Rajesh Rawat, Sheetal Rastogi, Kusum Pathak</a:t>
            </a:r>
            <a:r>
              <a:rPr lang="en-US" sz="1300" dirty="0">
                <a:solidFill>
                  <a:srgbClr val="1F2937"/>
                </a:solidFill>
              </a:rPr>
              <a:t> — “AI/ML-Driven Intrusion Detection and Threat Prediction for Intelligent Cybersecurity Management in Next-Generation Networks”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4.  Farwa Nazim, Muhammad Faran Aslam, Naeem Aslam, Ayesha Yasin, Muhammad Fuzail</a:t>
            </a:r>
            <a:r>
              <a:rPr lang="en-US" sz="1300" dirty="0">
                <a:solidFill>
                  <a:srgbClr val="1F2937"/>
                </a:solidFill>
              </a:rPr>
              <a:t> — “Machine Learning Approaches for Predictive Cyber Threat Intelligence and Risk Management”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5.  Sahithi Panda, Teki Aditya Raj, Sonabha Manisha, R Chaitanya Kumar</a:t>
            </a:r>
            <a:r>
              <a:rPr lang="en-US" sz="1300" dirty="0">
                <a:solidFill>
                  <a:srgbClr val="1F2937"/>
                </a:solidFill>
              </a:rPr>
              <a:t> — “AI-Driven Cyber Threat Intelligence Platform for Proactive Threat Detection and Prediction”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6.  Kimberly Jane</a:t>
            </a:r>
            <a:r>
              <a:rPr lang="en-US" sz="1300" dirty="0">
                <a:solidFill>
                  <a:srgbClr val="1F2937"/>
                </a:solidFill>
              </a:rPr>
              <a:t> — “Predictive Analytics in Cyber Threat Intelligence: Using AI to predict potential cyber threats based on historical data”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CC3EC"/>
                </a:solidFill>
              </a:rPr>
              <a:t>Questions &amp; Answers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3017520"/>
            <a:ext cx="1828800" cy="0"/>
          </a:xfrm>
          <a:prstGeom prst="line">
            <a:avLst/>
          </a:prstGeom>
          <a:noFill/>
          <a:ln w="25400">
            <a:solidFill>
              <a:srgbClr val="9CC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CyberShield Analytics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ML-driven Cyber Threat Intelligence and Risk Prediction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Shield Academic">
  <a:themeElements>
    <a:clrScheme name="CyberShield Academic">
      <a:dk1>
        <a:srgbClr val="1F2937"/>
      </a:dk1>
      <a:lt1>
        <a:srgbClr val="FFFFFF"/>
      </a:lt1>
      <a:dk2>
        <a:srgbClr val="12306B"/>
      </a:dk2>
      <a:lt2>
        <a:srgbClr val="EAF1FA"/>
      </a:lt2>
      <a:accent1>
        <a:srgbClr val="1F4E8C"/>
      </a:accent1>
      <a:accent2>
        <a:srgbClr val="3B82C4"/>
      </a:accent2>
      <a:accent3>
        <a:srgbClr val="6B7280"/>
      </a:accent3>
      <a:accent4>
        <a:srgbClr val="D97706"/>
      </a:accent4>
      <a:accent5>
        <a:srgbClr val="B91C1C"/>
      </a:accent5>
      <a:accent6>
        <a:srgbClr val="2E7D32"/>
      </a:accent6>
      <a:hlink>
        <a:srgbClr val="1F4E8C"/>
      </a:hlink>
      <a:folHlink>
        <a:srgbClr val="6B7280"/>
      </a:folHlink>
    </a:clrScheme>
    <a:fontScheme name="CyberShield Academi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1742</Words>
  <Application>Microsoft Office PowerPoint</Application>
  <PresentationFormat>On-screen Show (16:9)</PresentationFormat>
  <Paragraphs>454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CyberShield Academic</vt:lpstr>
      <vt:lpstr>PowerPoint Presentation</vt:lpstr>
      <vt:lpstr>Introduction</vt:lpstr>
      <vt:lpstr>Problem Statement</vt:lpstr>
      <vt:lpstr>Objectives</vt:lpstr>
      <vt:lpstr>Project Scope</vt:lpstr>
      <vt:lpstr>Dataset Description</vt:lpstr>
      <vt:lpstr>Data Preprocessing</vt:lpstr>
      <vt:lpstr>Feature Engineering &amp; Risk Scoring</vt:lpstr>
      <vt:lpstr>Methodology</vt:lpstr>
      <vt:lpstr>System Workflow</vt:lpstr>
      <vt:lpstr>Technologies Used</vt:lpstr>
      <vt:lpstr>Algorithms Used</vt:lpstr>
      <vt:lpstr>Random Forest Risk Prediction</vt:lpstr>
      <vt:lpstr>Isolation Forest Anomaly Detection</vt:lpstr>
      <vt:lpstr>ARIMA Forecasting</vt:lpstr>
      <vt:lpstr>SHAP Explainable AI</vt:lpstr>
      <vt:lpstr>Risk Monitoring &amp; Early Warning</vt:lpstr>
      <vt:lpstr>Database &amp; Data Management</vt:lpstr>
      <vt:lpstr>Power BI Dashboard</vt:lpstr>
      <vt:lpstr>Results &amp; Key Findings</vt:lpstr>
      <vt:lpstr>Advantages</vt:lpstr>
      <vt:lpstr>Limitations</vt:lpstr>
      <vt:lpstr>Future Scope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CyberShield Analytics</dc:title>
  <dc:subject>PptxGenJS Presentation</dc:subject>
  <dc:creator>PptxGenJS</dc:creator>
  <cp:lastModifiedBy>nikitakumaripanda2102@gmail.com</cp:lastModifiedBy>
  <cp:revision>2</cp:revision>
  <dcterms:created xsi:type="dcterms:W3CDTF">2026-10-06T11:15:49Z</dcterms:created>
  <dcterms:modified xsi:type="dcterms:W3CDTF">2026-10-06T11:22:56Z</dcterms:modified>
</cp:coreProperties>
</file>